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82296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E8"/>
                </a:solidFill>
              </a:rPr>
              <a:t>FinTechathon 2026 — International Track — Topic D: Insurance Assistant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</a:rPr>
              <a:t>ClauseGuard — FinTechathon 2026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ClauseGuard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A Multi-Policy Entitlement Engine for Insurance Consumers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Mengubah polis menjadi logika yang bisa dibuktikan — bukan tebakan AI.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64008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32B4D"/>
          </a:solidFill>
          <a:ln w="12700">
            <a:solidFill>
              <a:srgbClr val="2A48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0" y="640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Topic 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Insurance Assistant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Masalah: polis dibaca, tapi tidak dipahami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54864" cy="2377440"/>
          </a:xfrm>
          <a:prstGeom prst="roundRect">
            <a:avLst/>
          </a:prstGeom>
          <a:solidFill>
            <a:srgbClr val="D831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719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Bahasa hukum yang padat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031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Konsumen jarang membaca seluruh pasal; batas, pengecualian dan syarat tersembunyi di balik istilah teknis.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1554480"/>
            <a:ext cx="54864" cy="2377440"/>
          </a:xfrm>
          <a:prstGeom prst="roundRect">
            <a:avLst/>
          </a:prstGeom>
          <a:solidFill>
            <a:srgbClr val="D831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53712" y="1719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Banyak polis, satu kejadian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21031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BPJS, asuransi kantor, dan asuransi pribadi sering menanggung kejadian yang sama — siapa bayar berapa jarang jelas.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554480"/>
            <a:ext cx="54864" cy="2377440"/>
          </a:xfrm>
          <a:prstGeom prst="roundRect">
            <a:avLst/>
          </a:prstGeom>
          <a:solidFill>
            <a:srgbClr val="D831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02752" y="1719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Klaim ditolak tanpa penjelasan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21031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Nasabah baru tahu ada syarat yang tidak terpenuhi setelah klaim diajukan, bukan sebelum.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B1D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80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8FA8E8"/>
                </a:solidFill>
              </a:rPr>
              <a:t>Data nyata: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KFF melaporkan jutaan klaim asuransi kesehatan AS ditolak tiap tahun; OJK dan YLKI mencatat pola serupa di Indonesia — sebagian besar karena dokumen tidak lengkap atau syarat tidak dipahami, bukan karena kejadian memang tidak ditanggung.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Usulan: jawaban yang bisa dibuktikan, bukan ditebak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A5E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“Tahu persis apa yang ditanggung asuransimu — bukan tebakan AI, tapi bukti dari pasal polismu sendiri.”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54864" cy="2103120"/>
          </a:xfrm>
          <a:prstGeom prst="roundRect">
            <a:avLst/>
          </a:prstGeom>
          <a:solidFill>
            <a:srgbClr val="1580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450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Terbukti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346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Setiap jawaban mengutip pasal persis yang menjadi dasarnya — bukan parafrase yang bisa salah.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2860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2286000"/>
            <a:ext cx="54864" cy="2103120"/>
          </a:xfrm>
          <a:prstGeom prst="roundRect">
            <a:avLst/>
          </a:prstGeom>
          <a:solidFill>
            <a:srgbClr val="3A5EC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3712" y="2450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Lintas-polis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8346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BPJS, asuransi kantor dan pribadi dihitung sekaligus — urutan bayar terbukti optimal secara matematis.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2860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2286000"/>
            <a:ext cx="54864" cy="210312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2450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 bertindak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8346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Bisa mengajukan klaim dan banding, tapi tidak pernah bisa memindahkan uang sendiri.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16161"/>
                </a:solidFill>
              </a:rPr>
              <a:t>Pola yang sama berlaku di luar asuransi: kelayakan kredit mikro, kepatuhan KYC, atau keputusan finansial lain yang harus bisa dipertanggungjawabkan.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metode: AI membaca, kode memutuskan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18288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70992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 Polis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211226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PDF asli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0" y="1975104"/>
            <a:ext cx="320040" cy="164592"/>
          </a:xfrm>
          <a:prstGeom prst="rightArrow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2606040" y="1600200"/>
            <a:ext cx="21031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9192" y="170992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Ekstraktor (LLM)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79192" y="2112264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hanya membaca &amp; menata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975104"/>
            <a:ext cx="320040" cy="164592"/>
          </a:xfrm>
          <a:prstGeom prst="rightArrow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1600200"/>
            <a:ext cx="21031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02352" y="170992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 Klausul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102352" y="2112264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data bertipe, 12 relasi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32320" y="1975104"/>
            <a:ext cx="320040" cy="164592"/>
          </a:xfrm>
          <a:prstGeom prst="rightArrow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52360" y="1600200"/>
            <a:ext cx="2286000" cy="9144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25512" y="1709928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Solver (Kode)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525512" y="2112264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verdict · alokasi · recourse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738360" y="1975104"/>
            <a:ext cx="320040" cy="164592"/>
          </a:xfrm>
          <a:prstGeom prst="rightArrow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0" y="1600200"/>
            <a:ext cx="21031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31552" y="170992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Composer (LLM)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131552" y="2112264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menulis jawaban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13064" y="2514600"/>
            <a:ext cx="164592" cy="457200"/>
          </a:xfrm>
          <a:prstGeom prst="downArrow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971800"/>
            <a:ext cx="28346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717804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Tingkat Izin (T0–T3)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aksi hanya setelah konfirmasi — uang/identitas tidak pernah otomatis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784080" y="31363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16161"/>
                </a:solidFill>
              </a:rPr>
              <a:t>Jawaban + kutipan pasal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1109960" y="2514600"/>
            <a:ext cx="914" cy="5029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4"/>
                </a:solidFill>
              </a:rPr>
              <a:t>LLM tidak pernah memutuskan verdict, nominal, atau aksi — ia hanya membaca dokumen dan merangkai kalimat dari hasil solver.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709160"/>
            <a:ext cx="54864" cy="1600200"/>
          </a:xfrm>
          <a:prstGeom prst="roundRect">
            <a:avLst/>
          </a:prstGeom>
          <a:solidFill>
            <a:srgbClr val="3A5EC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4672" y="4873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solver deterministik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" y="5257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Verdict cakupan · alokasi klaim (terbukti optimal) · recourse/banding · pemilihan polis — semua kode, bukan LLM.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97680" y="4709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0" y="4709160"/>
            <a:ext cx="54864" cy="1600200"/>
          </a:xfrm>
          <a:prstGeom prst="roundRect">
            <a:avLst/>
          </a:prstGeom>
          <a:solidFill>
            <a:srgbClr val="3A5EC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53712" y="4873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Klarifikasi hemat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553712" y="5257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Sistem bertanya hanya jika jawabannya benar-benar mengubah keputusan, tidak basa-basi.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46720" y="4709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4709160"/>
            <a:ext cx="54864" cy="1600200"/>
          </a:xfrm>
          <a:prstGeom prst="roundRect">
            <a:avLst/>
          </a:prstGeom>
          <a:solidFill>
            <a:srgbClr val="3A5EC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302752" y="4873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Composer terverifikasi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302752" y="5257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LLM menulis kalimat, tapi setiap angka/tanggal/ID dicek balik ke data solver — salah satu ditolak, bukan dikirim.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Komponen “agen” di dalam ClauseGuard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651760" cy="1536192"/>
          </a:xfrm>
          <a:prstGeom prst="roundRect">
            <a:avLst>
              <a:gd name="adj" fmla="val 476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08760"/>
            <a:ext cx="54864" cy="1536192"/>
          </a:xfrm>
          <a:prstGeom prst="roundRect">
            <a:avLst/>
          </a:prstGeom>
          <a:solidFill>
            <a:srgbClr val="3A5EC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73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05740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Rule-based + model, menentukan niat pengguna dari bahasa bebas (ID/EN campur, typo, singkatan).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508760"/>
            <a:ext cx="2651760" cy="1536192"/>
          </a:xfrm>
          <a:prstGeom prst="roundRect">
            <a:avLst>
              <a:gd name="adj" fmla="val 476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508760"/>
            <a:ext cx="54864" cy="1536192"/>
          </a:xfrm>
          <a:prstGeom prst="roundRect">
            <a:avLst/>
          </a:prstGeom>
          <a:solidFill>
            <a:srgbClr val="1580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85032" y="1673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Binder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85032" y="205740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Regex + LLM mengekstrak fakta skenario dari kalimat; LLM menang saat fakta menentukan verdict (nominal, status SIM, dsb).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508760"/>
            <a:ext cx="2651760" cy="1536192"/>
          </a:xfrm>
          <a:prstGeom prst="roundRect">
            <a:avLst>
              <a:gd name="adj" fmla="val 476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508760"/>
            <a:ext cx="54864" cy="1536192"/>
          </a:xfrm>
          <a:prstGeom prst="roundRect">
            <a:avLst/>
          </a:prstGeom>
          <a:solidFill>
            <a:srgbClr val="3A5EC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65392" y="1673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Extractor (karantina)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205740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Mengubah PDF polis/dokumen klaim jadi tuple klausul bertipe; PDF selalu diredaksi lokal dulu, panggilan tunggal, tanpa riwayat.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89720" y="1508760"/>
            <a:ext cx="2651760" cy="1536192"/>
          </a:xfrm>
          <a:prstGeom prst="roundRect">
            <a:avLst>
              <a:gd name="adj" fmla="val 476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9720" y="1508760"/>
            <a:ext cx="54864" cy="1536192"/>
          </a:xfrm>
          <a:prstGeom prst="round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45752" y="1673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Solver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445752" y="205740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Verdict · Claim Allocation (koordinasi manfaat, terbukti optimal) · Recourse/Adjudication Twin · Plan Selection.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27832"/>
            <a:ext cx="2651760" cy="1536192"/>
          </a:xfrm>
          <a:prstGeom prst="roundRect">
            <a:avLst>
              <a:gd name="adj" fmla="val 476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227832"/>
            <a:ext cx="54864" cy="1536192"/>
          </a:xfrm>
          <a:prstGeom prst="roundRect">
            <a:avLst/>
          </a:prstGeom>
          <a:solidFill>
            <a:srgbClr val="3A5EC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33924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ICD-10 Coder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377647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Retrieve → select → verify atas daftar resmi ICD-10-CM; kamus alias hanya cadangan offline.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29000" y="3227832"/>
            <a:ext cx="2651760" cy="1536192"/>
          </a:xfrm>
          <a:prstGeom prst="roundRect">
            <a:avLst>
              <a:gd name="adj" fmla="val 476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3227832"/>
            <a:ext cx="54864" cy="1536192"/>
          </a:xfrm>
          <a:prstGeom prst="roundRect">
            <a:avLst/>
          </a:prstGeom>
          <a:solidFill>
            <a:srgbClr val="1580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685032" y="33924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685032" y="377647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Merangkai jawaban berbahasa alami dari output solver; setiap klaim numerik diverifikasi kode sebelum dikirim.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3227832"/>
            <a:ext cx="2651760" cy="1536192"/>
          </a:xfrm>
          <a:prstGeom prst="roundRect">
            <a:avLst>
              <a:gd name="adj" fmla="val 476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3227832"/>
            <a:ext cx="54864" cy="1536192"/>
          </a:xfrm>
          <a:prstGeom prst="roundRect">
            <a:avLst/>
          </a:prstGeom>
          <a:solidFill>
            <a:srgbClr val="3A5EC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65392" y="33924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Clarifier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565392" y="377647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Menyusun satu pertanyaan tepat saat verdict memang bergantung pada fakta yang belum diketahui.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89720" y="3227832"/>
            <a:ext cx="2651760" cy="1536192"/>
          </a:xfrm>
          <a:prstGeom prst="roundRect">
            <a:avLst>
              <a:gd name="adj" fmla="val 476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89720" y="3227832"/>
            <a:ext cx="54864" cy="1536192"/>
          </a:xfrm>
          <a:prstGeom prst="roundRect">
            <a:avLst/>
          </a:prstGeom>
          <a:solidFill>
            <a:srgbClr val="15803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45752" y="33924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Enforcer (PEP)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445752" y="377647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Kode murni, bukan prompt — T0 baca, T1 hitung, T2 perlu konfirmasi+nonce, T3 tiket manusia saja.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Keamanan ditegakkan di kode, bukan di prompt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0/27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128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serangan berhasil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(injeksi, eskalasi, transfer paksa)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554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0/15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2128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permintaan sah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salah diblokir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554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5E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T0–T3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2128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tingkat izin berlapis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kode, bukan janji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1554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5E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22128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data pribadi berlabel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tertangkap sebelum ke LLM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91840"/>
            <a:ext cx="54864" cy="1920240"/>
          </a:xfrm>
          <a:prstGeom prst="roundRect">
            <a:avLst/>
          </a:prstGeom>
          <a:solidFill>
            <a:srgbClr val="3A5EC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456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Redaksi data pribadi aktif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38404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PDF dibaca lokal, NIK/rekening/nama/tanggal lahir dibersihkan; gerbang akhir memblokir panggilan jika masih ada sisa — bukan hanya ditandai.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32918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3291840"/>
            <a:ext cx="54864" cy="1920240"/>
          </a:xfrm>
          <a:prstGeom prst="roundRect">
            <a:avLst/>
          </a:prstGeom>
          <a:solidFill>
            <a:srgbClr val="3A5EC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53712" y="3456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tak terhapuskan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53712" y="38404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Rantai hash berantai di Postgres (Supabase), RLS tanpa kebijakan — publik tidak bisa membaca, kode server yang menulis.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2918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3291840"/>
            <a:ext cx="54864" cy="1920240"/>
          </a:xfrm>
          <a:prstGeom prst="roundRect">
            <a:avLst/>
          </a:prstGeom>
          <a:solidFill>
            <a:srgbClr val="3A5EC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02752" y="3456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Uang tidak pernah otomatis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38404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Perubahan rekening/ahli waris/approval hanya jadi tiket untuk manusia; tidak ada tool yang bisa mengeksekusinya.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16161"/>
                </a:solidFill>
              </a:rPr>
              <a:t>Dibedah oleh red-team internal: token admin default dan kerusakan rantai audit ditemukan dan diperbaiki sebelum submission — bukan diklaim sempurna dari awal.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Dibangun di atas data publik asli, bukan sintetis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5E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834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042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polis CMS Marketplace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(Texas, premi asli)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6459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5E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23042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dokumen RIPLAY asli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asuransi Indonesia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6459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5E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16.860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23042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pertanyaan nasabah nyata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(InsuranceQA)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16459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5E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641080" y="23042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putusan Ombudsman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Finansial Inggris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246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1D34"/>
                </a:solidFill>
              </a:rPr>
              <a:t>Temuan terkuat: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pada 500 rumah tangga dengan data premi CMS asli, strategi klaim “greedy” (urutan sembarang) ternyata suboptimal pada 47,2% kasus — rata-rata kehilangan USD 988 dibanding urutan yang terbukti optimal dari solver kami.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evaluasi — dilaporkan apa adanya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08760"/>
            <a:ext cx="54864" cy="1417320"/>
          </a:xfrm>
          <a:prstGeom prst="roundRect">
            <a:avLst/>
          </a:prstGeom>
          <a:solidFill>
            <a:srgbClr val="3A5EC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733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publik (Mridul et al. 2026)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057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82,9% akurasi kami vs 87,5% LLM konteks-panjang — selisih tidak bermakna secara statistik (McNemar p=1,0). Plafon solver dengan ekstraksi sempurna: 92,1%.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108960"/>
            <a:ext cx="54864" cy="1417320"/>
          </a:xfrm>
          <a:prstGeom prst="roundRect">
            <a:avLst/>
          </a:prstGeom>
          <a:solidFill>
            <a:srgbClr val="3A5EC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32735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ICD-10 coding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6576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92,2% akurasi kategori (retrieve→select→verify atas 74.879 kode resmi), false-code 3,9% — jauh di atas kamus kata kunci lama (17,2%).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709160"/>
            <a:ext cx="54864" cy="141732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48737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Soal benar-benar baru (blind)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52578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1/10 dan 5/12 sebelum perbaikan — ini kelemahan nyata yang diakui, bukan ditutupi, dan jadi arah perbaikan utama.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skenario percakapan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08760"/>
            <a:ext cx="54864" cy="2194560"/>
          </a:xfrm>
          <a:prstGeom prst="roundRect">
            <a:avLst/>
          </a:prstGeom>
          <a:solidFill>
            <a:srgbClr val="1580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733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Cek cakupan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057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“Saya dirawat 3 hari karena demam berdarah, ditanggung berapa?”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508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1508760"/>
            <a:ext cx="54864" cy="2194560"/>
          </a:xfrm>
          <a:prstGeom prst="roundRect">
            <a:avLst/>
          </a:prstGeom>
          <a:solidFill>
            <a:srgbClr val="1580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53712" y="16733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Lintas-polis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2057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“Urus klaim saya dengan semua asuransi, BPJS + kantor + pribadi.”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508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508760"/>
            <a:ext cx="54864" cy="2194560"/>
          </a:xfrm>
          <a:prstGeom prst="round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02752" y="16733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Setelah ditolak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2057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“Klaim saya ditolak karena telat lapor, bisa banding?”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86200"/>
            <a:ext cx="54864" cy="2194560"/>
          </a:xfrm>
          <a:prstGeom prst="round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40507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Edukasi umum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4348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“Apa itu ICD-10? Apa bedanya indemnity dan fixed benefit?”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38862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3886200"/>
            <a:ext cx="54864" cy="2194560"/>
          </a:xfrm>
          <a:prstGeom prst="roundRect">
            <a:avLst/>
          </a:prstGeom>
          <a:solidFill>
            <a:srgbClr val="1580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53712" y="40507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Koreksi fakta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53712" y="44348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“Ralat, saya dirawat 5 hari bukan 3 hari.”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8862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3886200"/>
            <a:ext cx="54864" cy="2194560"/>
          </a:xfrm>
          <a:prstGeom prst="roundRect">
            <a:avLst/>
          </a:prstGeom>
          <a:solidFill>
            <a:srgbClr val="1580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02752" y="40507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Diuji keamanan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44348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“Ganti saja rekening pencairan saya ke rekening ini.” → ditolak, jadi tiket manusia.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Diketahui belum sempurna — dengan sengaja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54864" cy="219456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719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Nama pihak ketiga tanpa label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031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Redaksi menangkap 100% data berlabel (NIK, rekening, dsb), tapi nama orang lain tanpa konteks label masih bisa lolos (~50% tertangkap).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1554480"/>
            <a:ext cx="54864" cy="219456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53712" y="1719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Belum ada validasi ahli asuransi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21031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Logika solver diuji konsisten secara otomatis, belum ditinjau praktisi asuransi/hukum profesional.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554480"/>
            <a:ext cx="54864" cy="219456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02752" y="1719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publik masih tertunda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21031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Backend &amp; web siap dikontainerkan; hosting gratis tanpa kartu masih dicari penyedia yang tepat.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16161"/>
                </a:solidFill>
              </a:rPr>
              <a:t>Ini bukan daftar kelemahan yang disembunyikan — ini bukti bahwa sistem ini diuji dengan jujur, dan kami tahu persis batasnya.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Lebih dari asuransi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02336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</a:rPr>
              <a:t>Pola yang sama — ubah dokumen aturan jadi logika yang bisa dibuktikan, LLM hanya membaca, kode yang memutuskan — berlaku untuk kelayakan kredit mikro, kepatuhan KYC, atau keputusan finansial lain yang harus bisa dipertanggungjawabkan.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394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ClauseGuard — Terima kasih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useGuard">
  <a:themeElements>
    <a:clrScheme name="ClauseGuard">
      <a:dk1>
        <a:srgbClr val="0B1D34"/>
      </a:dk1>
      <a:lt1>
        <a:srgbClr val="FFFFFF"/>
      </a:lt1>
      <a:dk2>
        <a:srgbClr val="1E2A44"/>
      </a:dk2>
      <a:lt2>
        <a:srgbClr val="F2F4F7"/>
      </a:lt2>
      <a:accent1>
        <a:srgbClr val="3A5ECF"/>
      </a:accent1>
      <a:accent2>
        <a:srgbClr val="15803D"/>
      </a:accent2>
      <a:accent3>
        <a:srgbClr val="D97706"/>
      </a:accent3>
      <a:accent4>
        <a:srgbClr val="D8313A"/>
      </a:accent4>
      <a:accent5>
        <a:srgbClr val="616161"/>
      </a:accent5>
      <a:accent6>
        <a:srgbClr val="8FA8E8"/>
      </a:accent6>
      <a:hlink>
        <a:srgbClr val="3A5ECF"/>
      </a:hlink>
      <a:folHlink>
        <a:srgbClr val="1E2A44"/>
      </a:folHlink>
    </a:clrScheme>
    <a:fontScheme name="ClauseGuard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2026-10-14T05:19:57Z</dcterms:created>
  <dcterms:modified xsi:type="dcterms:W3CDTF">2026-10-14T05:19:57Z</dcterms:modified>
</cp:coreProperties>
</file>