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Accuracy (%)</c:v>
                </c:pt>
              </c:strCache>
            </c:strRef>
          </c:tx>
          <c:spPr>
            <a:solidFill>
              <a:srgbClr val="1E40AF"/>
            </a:solidFill>
          </c:spPr>
          <c:dPt>
            <c:idx val="0"/>
            <c:spPr>
              <a:solidFill>
                <a:srgbClr val="B6BDC9"/>
              </a:solidFill>
            </c:spPr>
          </c:dPt>
          <c:dPt>
            <c:idx val="1"/>
            <c:spPr>
              <a:solidFill>
                <a:srgbClr val="B6BDC9"/>
              </a:solidFill>
            </c:spPr>
          </c:dPt>
          <c:dPt>
            <c:idx val="2"/>
            <c:spPr>
              <a:solidFill>
                <a:srgbClr val="B6BDC9"/>
              </a:solidFill>
            </c:spPr>
          </c:dPt>
          <c:dPt>
            <c:idx val="3"/>
            <c:spPr>
              <a:solidFill>
                <a:srgbClr val="1E40AF"/>
              </a:solidFill>
            </c:spPr>
          </c:dPt>
          <c:cat>
            <c:strRef>
              <c:f>Sheet1!$A$2:$A$5</c:f>
              <c:strCache>
                <c:ptCount val="4"/>
                <c:pt idx="0">
                  <c:v>Gemini 3</c:v>
                </c:pt>
                <c:pt idx="1">
                  <c:v>ChatGPT 5.3</c:v>
                </c:pt>
                <c:pt idx="2">
                  <c:v>Claude Sonnet 4.6</c:v>
                </c:pt>
                <c:pt idx="3">
                  <c:v>ClauseGuard</c:v>
                </c:pt>
              </c:strCache>
            </c:strRef>
          </c:cat>
          <c:val>
            <c:numRef>
              <c:f>Sheet1!$B$2:$B$5</c:f>
              <c:numCache>
                <c:formatCode>General</c:formatCode>
                <c:ptCount val="4"/>
                <c:pt idx="0">
                  <c:v>65.2</c:v>
                </c:pt>
                <c:pt idx="1">
                  <c:v>72.9</c:v>
                </c:pt>
                <c:pt idx="2">
                  <c:v>87.8</c:v>
                </c:pt>
                <c:pt idx="3">
                  <c:v>84.6</c:v>
                </c:pt>
              </c:numCache>
            </c:numRef>
          </c:val>
        </c:ser>
        <c:ser>
          <c:idx val="1"/>
          <c:order val="1"/>
          <c:tx>
            <c:strRef>
              <c:f>Sheet1!$C$1</c:f>
              <c:strCache>
                <c:ptCount val="1"/>
                <c:pt idx="0">
                  <c:v>Fabricated denials (%)</c:v>
                </c:pt>
              </c:strCache>
            </c:strRef>
          </c:tx>
          <c:spPr>
            <a:solidFill>
              <a:srgbClr val="C2410C"/>
            </a:solidFill>
          </c:spPr>
          <c:dPt>
            <c:idx val="0"/>
            <c:spPr>
              <a:solidFill>
                <a:srgbClr val="E2B3A3"/>
              </a:solidFill>
            </c:spPr>
          </c:dPt>
          <c:dPt>
            <c:idx val="1"/>
            <c:spPr>
              <a:solidFill>
                <a:srgbClr val="E2B3A3"/>
              </a:solidFill>
            </c:spPr>
          </c:dPt>
          <c:dPt>
            <c:idx val="2"/>
            <c:spPr>
              <a:solidFill>
                <a:srgbClr val="E2B3A3"/>
              </a:solidFill>
            </c:spPr>
          </c:dPt>
          <c:dPt>
            <c:idx val="3"/>
            <c:spPr>
              <a:solidFill>
                <a:srgbClr val="C2410C"/>
              </a:solidFill>
            </c:spPr>
          </c:dPt>
          <c:cat>
            <c:strRef>
              <c:f>Sheet1!$A$2:$A$5</c:f>
              <c:strCache>
                <c:ptCount val="4"/>
                <c:pt idx="0">
                  <c:v>Gemini 3</c:v>
                </c:pt>
                <c:pt idx="1">
                  <c:v>ChatGPT 5.3</c:v>
                </c:pt>
                <c:pt idx="2">
                  <c:v>Claude Sonnet 4.6</c:v>
                </c:pt>
                <c:pt idx="3">
                  <c:v>ClauseGuard</c:v>
                </c:pt>
              </c:strCache>
            </c:strRef>
          </c:cat>
          <c:val>
            <c:numRef>
              <c:f>Sheet1!$C$2:$C$5</c:f>
              <c:numCache>
                <c:formatCode>General</c:formatCode>
                <c:ptCount val="4"/>
                <c:pt idx="0">
                  <c:v>26.6</c:v>
                </c:pt>
                <c:pt idx="1">
                  <c:v>6.7</c:v>
                </c:pt>
                <c:pt idx="2">
                  <c:v>2.4</c:v>
                </c:pt>
                <c:pt idx="3">
                  <c:v>1.4</c:v>
                </c:pt>
              </c:numCache>
            </c:numRef>
          </c:val>
        </c:ser>
        <c:dLbls>
          <c:numFmt formatCode="0.0&quot;%&quot;" sourceLinked="0"/>
          <c:txPr>
            <a:bodyPr/>
            <a:lstStyle/>
            <a:p>
              <a:pPr>
                <a:defRPr sz="1100">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latin typeface="Calibri"/>
              </a:defRPr>
            </a:pPr>
          </a:p>
        </c:txPr>
        <c:crossAx val="-2113994440"/>
        <c:crosses val="autoZero"/>
        <c:auto val="1"/>
        <c:lblAlgn val="ctr"/>
        <c:lblOffset val="100"/>
        <c:noMultiLvlLbl val="0"/>
      </c:catAx>
      <c:valAx>
        <c:axId val="-2113994440"/>
        <c:scaling>
          <c:max val="100.0"/>
        </c:scaling>
        <c:delete val="0"/>
        <c:axPos val="l"/>
        <c:majorTickMark val="out"/>
        <c:minorTickMark val="none"/>
        <c:tickLblPos val="nextTo"/>
        <c:txPr>
          <a:bodyPr/>
          <a:lstStyle/>
          <a:p>
            <a:pPr>
              <a:defRPr sz="1100"/>
            </a:pPr>
          </a:p>
        </c:txPr>
        <c:crossAx val="-2068027336"/>
        <c:crosses val="autoZero"/>
      </c:valAx>
    </c:plotArea>
    <c:legend>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ClauseGuard is an insurance assistant that reads your own policies, prepares your claim from your documents, sends it only after you confirm, and brings the insurer's decision back to you. Every answer points to the sentence of the policy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people never read their policies. When something happens they face several wordings, several document checklists and a filing deadline. Generic chat assistants answer confidently but make up exclusions. The problem is not understanding insurance in general; it is acting correctly on your own policies.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Rizky attaches four hospital documents and one sentence. The agent reads them, matches them to Sompo's document list, takes the bill from the invoice, and lays out Sompo's own claim form from Sompo's wording. Every field is filled from typed facts; the customer sees the form before anything leaves.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is not generated text. Policies are compiled into typed rules, and a deterministic engine applies them. The reply shows the amount, the filing deadline and the quoted clause. If a single missing fact would flip the result, the agent asks for that fact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Submission needs a Confirm tap bound to a one-time server token. The claim, the form and the attachments land on the insurer's desk, a sandbox in this entry. A person reviews, decides with a note, and the decision appears in the customer's chat. The agent prepares and reports; it never decides a claim.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permission tiers live in code, not in a prompt. Changing a payout account has no tool at all; the agent opens a ticket for a person. The insurer can halt the agent for every customer. Every step is written to a tamper-evident log. In our attack suite, none of 27 attacks had an effect.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public insurance-contract benchmark, ClauseGuard reaches 84.6 percent accuracy and invents a denial in 1.4 percent of cases. We do not claim to beat frontier models on accuracy; the difference is that answers are traced to clauses and denials are not fabricated. Scripted claims and the attack suite pass fully.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real is public data and a working product. What is simulated is the insurer: our desk is a sandbox, so no real claim is filed. The next steps are an insurer API, persistent sessions and an external red team. The code, tests, evidence and limitations are all in the repository.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566160" y="1097280"/>
            <a:ext cx="50292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wordmark.png"/>
          <p:cNvPicPr>
            <a:picLocks noChangeAspect="1"/>
          </p:cNvPicPr>
          <p:nvPr/>
        </p:nvPicPr>
        <p:blipFill>
          <a:blip r:embed="rId2"/>
          <a:stretch>
            <a:fillRect/>
          </a:stretch>
        </p:blipFill>
        <p:spPr>
          <a:xfrm>
            <a:off x="3749039" y="1574276"/>
            <a:ext cx="4663440" cy="1057687"/>
          </a:xfrm>
          <a:prstGeom prst="rect">
            <a:avLst/>
          </a:prstGeom>
        </p:spPr>
      </p:pic>
      <p:sp>
        <p:nvSpPr>
          <p:cNvPr id="5" name="TextBox 4"/>
          <p:cNvSpPr txBox="1"/>
          <p:nvPr/>
        </p:nvSpPr>
        <p:spPr>
          <a:xfrm>
            <a:off x="640080" y="3474720"/>
            <a:ext cx="10911535" cy="1097280"/>
          </a:xfrm>
          <a:prstGeom prst="rect">
            <a:avLst/>
          </a:prstGeom>
          <a:noFill/>
        </p:spPr>
        <p:txBody>
          <a:bodyPr wrap="square">
            <a:spAutoFit/>
          </a:bodyPr>
          <a:lstStyle/>
          <a:p>
            <a:pPr algn="ctr"/>
            <a:r>
              <a:rPr sz="3000" b="1">
                <a:solidFill>
                  <a:srgbClr val="FFFFFF"/>
                </a:solidFill>
                <a:latin typeface="Calibri"/>
              </a:rPr>
              <a:t>Clarity in every clause, confidence in every claim.</a:t>
            </a:r>
          </a:p>
        </p:txBody>
      </p:sp>
      <p:sp>
        <p:nvSpPr>
          <p:cNvPr id="6" name="TextBox 5"/>
          <p:cNvSpPr txBox="1"/>
          <p:nvPr/>
        </p:nvSpPr>
        <p:spPr>
          <a:xfrm>
            <a:off x="640080" y="4846320"/>
            <a:ext cx="10911535" cy="457200"/>
          </a:xfrm>
          <a:prstGeom prst="rect">
            <a:avLst/>
          </a:prstGeom>
          <a:noFill/>
        </p:spPr>
        <p:txBody>
          <a:bodyPr wrap="square">
            <a:spAutoFit/>
          </a:bodyPr>
          <a:lstStyle/>
          <a:p>
            <a:pPr algn="ctr"/>
            <a:r>
              <a:rPr sz="1600" b="0">
                <a:solidFill>
                  <a:srgbClr val="C7D2FE"/>
                </a:solidFill>
                <a:latin typeface="Calibri"/>
              </a:rPr>
              <a:t>Bunga Laelatul Muna · Izra · Wan Sabrina — Institut Teknologi Sepuluh Nopember, Indonesia</a:t>
            </a:r>
          </a:p>
        </p:txBody>
      </p:sp>
      <p:sp>
        <p:nvSpPr>
          <p:cNvPr id="7" name="TextBox 6"/>
          <p:cNvSpPr txBox="1"/>
          <p:nvPr/>
        </p:nvSpPr>
        <p:spPr>
          <a:xfrm>
            <a:off x="640080" y="5257800"/>
            <a:ext cx="10911535" cy="457200"/>
          </a:xfrm>
          <a:prstGeom prst="rect">
            <a:avLst/>
          </a:prstGeom>
          <a:noFill/>
        </p:spPr>
        <p:txBody>
          <a:bodyPr wrap="square">
            <a:spAutoFit/>
          </a:bodyPr>
          <a:lstStyle/>
          <a:p>
            <a:pPr algn="ctr"/>
            <a:r>
              <a:rPr sz="1600" b="0">
                <a:solidFill>
                  <a:srgbClr val="C7D2FE"/>
                </a:solidFill>
                <a:latin typeface="Calibri"/>
              </a:rPr>
              <a:t>FinTechathon 2026 · International Track · Topic 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THE PROBLEM</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Claims fail on paperwork and deadlines, not on coverage.</a:t>
            </a:r>
          </a:p>
        </p:txBody>
      </p:sp>
      <p:sp>
        <p:nvSpPr>
          <p:cNvPr id="5" name="TextBox 4"/>
          <p:cNvSpPr txBox="1"/>
          <p:nvPr/>
        </p:nvSpPr>
        <p:spPr>
          <a:xfrm>
            <a:off x="640080" y="2331720"/>
            <a:ext cx="10911535" cy="1371600"/>
          </a:xfrm>
          <a:prstGeom prst="rect">
            <a:avLst/>
          </a:prstGeom>
          <a:noFill/>
        </p:spPr>
        <p:txBody>
          <a:bodyPr wrap="square">
            <a:spAutoFit/>
          </a:bodyPr>
          <a:lstStyle/>
          <a:p>
            <a:pPr>
              <a:spcAft>
                <a:spcPts val="800"/>
              </a:spcAft>
            </a:pPr>
            <a:r>
              <a:rPr sz="2000">
                <a:solidFill>
                  <a:srgbClr val="1F2933"/>
                </a:solidFill>
                <a:latin typeface="Calibri"/>
              </a:rPr>
              <a:t>•  A household holds three to five policies, each a 40-page wording with its own document list and filing clock</a:t>
            </a:r>
          </a:p>
          <a:p>
            <a:pPr>
              <a:spcAft>
                <a:spcPts val="800"/>
              </a:spcAft>
            </a:pPr>
            <a:r>
              <a:rPr sz="2000">
                <a:solidFill>
                  <a:srgbClr val="1F2933"/>
                </a:solidFill>
                <a:latin typeface="Calibri"/>
              </a:rPr>
              <a:t>•  People do not know which policy pays first, how much, or what to send by when</a:t>
            </a:r>
          </a:p>
          <a:p>
            <a:pPr>
              <a:spcAft>
                <a:spcPts val="800"/>
              </a:spcAft>
            </a:pPr>
            <a:r>
              <a:rPr sz="2000">
                <a:solidFill>
                  <a:srgbClr val="1F2933"/>
                </a:solidFill>
                <a:latin typeface="Calibri"/>
              </a:rPr>
              <a:t>•  Chatbots answer fluently — and invent denials that are not in the policy</a:t>
            </a:r>
          </a:p>
        </p:txBody>
      </p:sp>
      <p:sp>
        <p:nvSpPr>
          <p:cNvPr id="6" name="TextBox 5"/>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FOUR DOCUMENTS, ONE SENTENCE, CLAIM READY</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Drop your hospital documents in the chat; the insurer's own claim form comes back, filled.</a:t>
            </a:r>
          </a:p>
        </p:txBody>
      </p:sp>
      <p:sp>
        <p:nvSpPr>
          <p:cNvPr id="5" name="Rounded Rectangle 4"/>
          <p:cNvSpPr/>
          <p:nvPr/>
        </p:nvSpPr>
        <p:spPr>
          <a:xfrm>
            <a:off x="3544420" y="2002536"/>
            <a:ext cx="5102855" cy="4361688"/>
          </a:xfrm>
          <a:prstGeom prst="roundRect">
            <a:avLst>
              <a:gd name="adj" fmla="val 3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rm_crop.png"/>
          <p:cNvPicPr>
            <a:picLocks noChangeAspect="1"/>
          </p:cNvPicPr>
          <p:nvPr/>
        </p:nvPicPr>
        <p:blipFill>
          <a:blip r:embed="rId2"/>
          <a:stretch>
            <a:fillRect/>
          </a:stretch>
        </p:blipFill>
        <p:spPr>
          <a:xfrm>
            <a:off x="3599284" y="2057400"/>
            <a:ext cx="4993127" cy="4251960"/>
          </a:xfrm>
          <a:prstGeom prst="rect">
            <a:avLst/>
          </a:prstGeom>
        </p:spPr>
      </p:pic>
      <p:sp>
        <p:nvSpPr>
          <p:cNvPr id="7" name="TextBox 6"/>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EVERY ANSWER CITES THE CLAUSE</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Covered, for how much, by when — and the exact sentence that decides it.</a:t>
            </a:r>
          </a:p>
        </p:txBody>
      </p:sp>
      <p:sp>
        <p:nvSpPr>
          <p:cNvPr id="5" name="Rounded Rectangle 4"/>
          <p:cNvSpPr/>
          <p:nvPr/>
        </p:nvSpPr>
        <p:spPr>
          <a:xfrm>
            <a:off x="2482175" y="2002536"/>
            <a:ext cx="3813889" cy="4361688"/>
          </a:xfrm>
          <a:prstGeom prst="roundRect">
            <a:avLst>
              <a:gd name="adj" fmla="val 3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cus-verdict.png"/>
          <p:cNvPicPr>
            <a:picLocks noChangeAspect="1"/>
          </p:cNvPicPr>
          <p:nvPr/>
        </p:nvPicPr>
        <p:blipFill>
          <a:blip r:embed="rId2"/>
          <a:stretch>
            <a:fillRect/>
          </a:stretch>
        </p:blipFill>
        <p:spPr>
          <a:xfrm>
            <a:off x="2537039" y="2057400"/>
            <a:ext cx="3704161" cy="4251960"/>
          </a:xfrm>
          <a:prstGeom prst="rect">
            <a:avLst/>
          </a:prstGeom>
        </p:spPr>
      </p:pic>
      <p:sp>
        <p:nvSpPr>
          <p:cNvPr id="7" name="TextBox 6"/>
          <p:cNvSpPr txBox="1"/>
          <p:nvPr/>
        </p:nvSpPr>
        <p:spPr>
          <a:xfrm>
            <a:off x="8503919" y="2240280"/>
            <a:ext cx="3047696" cy="914400"/>
          </a:xfrm>
          <a:prstGeom prst="rect">
            <a:avLst/>
          </a:prstGeom>
          <a:noFill/>
        </p:spPr>
        <p:txBody>
          <a:bodyPr wrap="square">
            <a:spAutoFit/>
          </a:bodyPr>
          <a:lstStyle/>
          <a:p>
            <a:pPr>
              <a:spcAft>
                <a:spcPts val="800"/>
              </a:spcAft>
            </a:pPr>
            <a:r>
              <a:rPr sz="1500">
                <a:solidFill>
                  <a:srgbClr val="1F2933"/>
                </a:solidFill>
                <a:latin typeface="Calibri"/>
              </a:rPr>
              <a:t>•  A rules engine decides; the model only reads, binds facts and words the reply</a:t>
            </a:r>
          </a:p>
          <a:p>
            <a:pPr>
              <a:spcAft>
                <a:spcPts val="800"/>
              </a:spcAft>
            </a:pPr>
            <a:r>
              <a:rPr sz="1500">
                <a:solidFill>
                  <a:srgbClr val="1F2933"/>
                </a:solidFill>
                <a:latin typeface="Calibri"/>
              </a:rPr>
              <a:t>•  One question is asked only when one missing fact would change the outcome</a:t>
            </a:r>
          </a:p>
        </p:txBody>
      </p:sp>
      <p:sp>
        <p:nvSpPr>
          <p:cNvPr id="8" name="TextBox 7"/>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IT ACTS, AND THE DECISION COMES BACK</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After one tap, the claim reaches the insurer's desk; the adjuster's decision returns to the chat.</a:t>
            </a:r>
          </a:p>
        </p:txBody>
      </p:sp>
      <p:sp>
        <p:nvSpPr>
          <p:cNvPr id="5" name="Rounded Rectangle 4"/>
          <p:cNvSpPr/>
          <p:nvPr/>
        </p:nvSpPr>
        <p:spPr>
          <a:xfrm>
            <a:off x="2061365" y="2002536"/>
            <a:ext cx="2476036" cy="4361688"/>
          </a:xfrm>
          <a:prstGeom prst="roundRect">
            <a:avLst>
              <a:gd name="adj" fmla="val 3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cus-insurer.png"/>
          <p:cNvPicPr>
            <a:picLocks noChangeAspect="1"/>
          </p:cNvPicPr>
          <p:nvPr/>
        </p:nvPicPr>
        <p:blipFill>
          <a:blip r:embed="rId2"/>
          <a:stretch>
            <a:fillRect/>
          </a:stretch>
        </p:blipFill>
        <p:spPr>
          <a:xfrm>
            <a:off x="2116229" y="2057400"/>
            <a:ext cx="2366308" cy="4251960"/>
          </a:xfrm>
          <a:prstGeom prst="rect">
            <a:avLst/>
          </a:prstGeom>
        </p:spPr>
      </p:pic>
      <p:sp>
        <p:nvSpPr>
          <p:cNvPr id="7" name="Rounded Rectangle 6"/>
          <p:cNvSpPr/>
          <p:nvPr/>
        </p:nvSpPr>
        <p:spPr>
          <a:xfrm>
            <a:off x="6392569" y="2002536"/>
            <a:ext cx="4999482" cy="4361688"/>
          </a:xfrm>
          <a:prstGeom prst="roundRect">
            <a:avLst>
              <a:gd name="adj" fmla="val 3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cision_crop.png"/>
          <p:cNvPicPr>
            <a:picLocks noChangeAspect="1"/>
          </p:cNvPicPr>
          <p:nvPr/>
        </p:nvPicPr>
        <p:blipFill>
          <a:blip r:embed="rId3"/>
          <a:stretch>
            <a:fillRect/>
          </a:stretch>
        </p:blipFill>
        <p:spPr>
          <a:xfrm>
            <a:off x="6447433" y="2057400"/>
            <a:ext cx="4889754" cy="4251960"/>
          </a:xfrm>
          <a:prstGeom prst="rect">
            <a:avLst/>
          </a:prstGeom>
        </p:spPr>
      </p:pic>
      <p:sp>
        <p:nvSpPr>
          <p:cNvPr id="9" name="TextBox 8"/>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5/8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IT CANNOT TOUCH YOUR MONEY</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Permission is enforced in code: read, compute, send after Confirm — money and identity, never.</a:t>
            </a:r>
          </a:p>
        </p:txBody>
      </p:sp>
      <p:sp>
        <p:nvSpPr>
          <p:cNvPr id="5" name="Rounded Rectangle 4"/>
          <p:cNvSpPr/>
          <p:nvPr/>
        </p:nvSpPr>
        <p:spPr>
          <a:xfrm>
            <a:off x="585216" y="2554975"/>
            <a:ext cx="7607807" cy="3256809"/>
          </a:xfrm>
          <a:prstGeom prst="roundRect">
            <a:avLst>
              <a:gd name="adj" fmla="val 3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cus-refusal.png"/>
          <p:cNvPicPr>
            <a:picLocks noChangeAspect="1"/>
          </p:cNvPicPr>
          <p:nvPr/>
        </p:nvPicPr>
        <p:blipFill>
          <a:blip r:embed="rId2"/>
          <a:stretch>
            <a:fillRect/>
          </a:stretch>
        </p:blipFill>
        <p:spPr>
          <a:xfrm>
            <a:off x="640080" y="2609839"/>
            <a:ext cx="7498079" cy="3147081"/>
          </a:xfrm>
          <a:prstGeom prst="rect">
            <a:avLst/>
          </a:prstGeom>
        </p:spPr>
      </p:pic>
      <p:sp>
        <p:nvSpPr>
          <p:cNvPr id="7" name="TextBox 6"/>
          <p:cNvSpPr txBox="1"/>
          <p:nvPr/>
        </p:nvSpPr>
        <p:spPr>
          <a:xfrm>
            <a:off x="8503919" y="2240280"/>
            <a:ext cx="3047696" cy="914400"/>
          </a:xfrm>
          <a:prstGeom prst="rect">
            <a:avLst/>
          </a:prstGeom>
          <a:noFill/>
        </p:spPr>
        <p:txBody>
          <a:bodyPr wrap="square">
            <a:spAutoFit/>
          </a:bodyPr>
          <a:lstStyle/>
          <a:p>
            <a:pPr>
              <a:spcAft>
                <a:spcPts val="800"/>
              </a:spcAft>
            </a:pPr>
            <a:r>
              <a:rPr sz="1500">
                <a:solidFill>
                  <a:srgbClr val="1F2933"/>
                </a:solidFill>
                <a:latin typeface="Calibri"/>
              </a:rPr>
              <a:t>•  Observe / Draft / Act switch, insurer-side halt switch, hash-chained audit log</a:t>
            </a:r>
          </a:p>
          <a:p>
            <a:pPr>
              <a:spcAft>
                <a:spcPts val="800"/>
              </a:spcAft>
            </a:pPr>
            <a:r>
              <a:rPr sz="1500">
                <a:solidFill>
                  <a:srgbClr val="1F2933"/>
                </a:solidFill>
                <a:latin typeface="Calibri"/>
              </a:rPr>
              <a:t>•  Uploaded documents are data: hidden instructions are detected and ignored</a:t>
            </a:r>
          </a:p>
        </p:txBody>
      </p:sp>
      <p:sp>
        <p:nvSpPr>
          <p:cNvPr id="8" name="TextBox 7"/>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MEASURED, WITH LIMITS</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Fewer invented denials than general chat models, measured on a public benchmark.</a:t>
            </a:r>
          </a:p>
        </p:txBody>
      </p:sp>
      <p:graphicFrame>
        <p:nvGraphicFramePr>
          <p:cNvPr id="5" name="Chart 4"/>
          <p:cNvGraphicFramePr>
            <a:graphicFrameLocks noGrp="1"/>
          </p:cNvGraphicFramePr>
          <p:nvPr/>
        </p:nvGraphicFramePr>
        <p:xfrm>
          <a:off x="640080" y="2057400"/>
          <a:ext cx="7498079" cy="4251960"/>
        </p:xfrm>
        <a:graphic>
          <a:graphicData uri="http://schemas.openxmlformats.org/drawingml/2006/chart">
            <c:chart xmlns:c="http://schemas.openxmlformats.org/drawingml/2006/chart" r:id="rId2"/>
          </a:graphicData>
        </a:graphic>
      </p:graphicFrame>
      <p:sp>
        <p:nvSpPr>
          <p:cNvPr id="6" name="TextBox 5"/>
          <p:cNvSpPr txBox="1"/>
          <p:nvPr/>
        </p:nvSpPr>
        <p:spPr>
          <a:xfrm>
            <a:off x="8503919" y="2240280"/>
            <a:ext cx="3047696" cy="914400"/>
          </a:xfrm>
          <a:prstGeom prst="rect">
            <a:avLst/>
          </a:prstGeom>
          <a:noFill/>
        </p:spPr>
        <p:txBody>
          <a:bodyPr wrap="square">
            <a:spAutoFit/>
          </a:bodyPr>
          <a:lstStyle/>
          <a:p>
            <a:pPr>
              <a:spcAft>
                <a:spcPts val="800"/>
              </a:spcAft>
            </a:pPr>
            <a:r>
              <a:rPr sz="1500">
                <a:solidFill>
                  <a:srgbClr val="1F2933"/>
                </a:solidFill>
                <a:latin typeface="Calibri"/>
              </a:rPr>
              <a:t>•  84.6 % accuracy on 390 benchmark labels; 1.4 % fabricated denials (general models: 2.4 % to 26.6 %)</a:t>
            </a:r>
          </a:p>
          <a:p>
            <a:pPr>
              <a:spcAft>
                <a:spcPts val="800"/>
              </a:spcAft>
            </a:pPr>
            <a:r>
              <a:rPr sz="1500">
                <a:solidFill>
                  <a:srgbClr val="1F2933"/>
                </a:solidFill>
                <a:latin typeface="Calibri"/>
              </a:rPr>
              <a:t>•  33 of 33 scripted claims, 0 of 27 attacks succeeded, 0 of 15 benign requests blocked</a:t>
            </a:r>
          </a:p>
        </p:txBody>
      </p:sp>
      <p:sp>
        <p:nvSpPr>
          <p:cNvPr id="7" name="TextBox 6"/>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11535" cy="548640"/>
          </a:xfrm>
          <a:prstGeom prst="rect">
            <a:avLst/>
          </a:prstGeom>
          <a:noFill/>
        </p:spPr>
        <p:txBody>
          <a:bodyPr wrap="square">
            <a:spAutoFit/>
          </a:bodyPr>
          <a:lstStyle/>
          <a:p>
            <a:pPr algn="l"/>
            <a:r>
              <a:rPr sz="1300" b="1">
                <a:solidFill>
                  <a:srgbClr val="1E40AF"/>
                </a:solidFill>
                <a:latin typeface="Calibri"/>
              </a:rPr>
              <a:t>WHAT IS REAL, WHAT IS NEXT</a:t>
            </a:r>
          </a:p>
        </p:txBody>
      </p:sp>
      <p:sp>
        <p:nvSpPr>
          <p:cNvPr id="4" name="TextBox 3"/>
          <p:cNvSpPr txBox="1"/>
          <p:nvPr/>
        </p:nvSpPr>
        <p:spPr>
          <a:xfrm>
            <a:off x="640080" y="868680"/>
            <a:ext cx="10911535" cy="1097280"/>
          </a:xfrm>
          <a:prstGeom prst="rect">
            <a:avLst/>
          </a:prstGeom>
          <a:noFill/>
        </p:spPr>
        <p:txBody>
          <a:bodyPr wrap="square">
            <a:spAutoFit/>
          </a:bodyPr>
          <a:lstStyle/>
          <a:p>
            <a:pPr algn="l"/>
            <a:r>
              <a:rPr sz="2800" b="1">
                <a:solidFill>
                  <a:srgbClr val="14213D"/>
                </a:solidFill>
                <a:latin typeface="Calibri"/>
              </a:rPr>
              <a:t>Live web app, sandbox insurer, public data — and an honest list of what is not built yet.</a:t>
            </a:r>
          </a:p>
        </p:txBody>
      </p:sp>
      <p:sp>
        <p:nvSpPr>
          <p:cNvPr id="5" name="TextBox 4"/>
          <p:cNvSpPr txBox="1"/>
          <p:nvPr/>
        </p:nvSpPr>
        <p:spPr>
          <a:xfrm>
            <a:off x="640080" y="2331720"/>
            <a:ext cx="10911535" cy="1828800"/>
          </a:xfrm>
          <a:prstGeom prst="rect">
            <a:avLst/>
          </a:prstGeom>
          <a:noFill/>
        </p:spPr>
        <p:txBody>
          <a:bodyPr wrap="square">
            <a:spAutoFit/>
          </a:bodyPr>
          <a:lstStyle/>
          <a:p>
            <a:pPr>
              <a:spcAft>
                <a:spcPts val="800"/>
              </a:spcAft>
            </a:pPr>
            <a:r>
              <a:rPr sz="2000">
                <a:solidFill>
                  <a:srgbClr val="1F2933"/>
                </a:solidFill>
                <a:latin typeface="Calibri"/>
              </a:rPr>
              <a:t>•  Real: six insurer wordings, 30 Indonesian product summaries, 834 CMS plans, consumer questions, ombudsman decisions</a:t>
            </a:r>
          </a:p>
          <a:p>
            <a:pPr>
              <a:spcAft>
                <a:spcPts val="800"/>
              </a:spcAft>
            </a:pPr>
            <a:r>
              <a:rPr sz="2000">
                <a:solidFill>
                  <a:srgbClr val="1F2933"/>
                </a:solidFill>
                <a:latin typeface="Calibri"/>
              </a:rPr>
              <a:t>•  Sandbox: the insurer's desk and the three personas; no real insurer receives a claim</a:t>
            </a:r>
          </a:p>
          <a:p>
            <a:pPr>
              <a:spcAft>
                <a:spcPts val="800"/>
              </a:spcAft>
            </a:pPr>
            <a:r>
              <a:rPr sz="2000">
                <a:solidFill>
                  <a:srgbClr val="1F2933"/>
                </a:solidFill>
                <a:latin typeface="Calibri"/>
              </a:rPr>
              <a:t>•  Next: a real insurer API, session state that survives restarts, an external red team</a:t>
            </a:r>
          </a:p>
          <a:p>
            <a:pPr>
              <a:spcAft>
                <a:spcPts val="800"/>
              </a:spcAft>
            </a:pPr>
            <a:r>
              <a:rPr sz="2000">
                <a:solidFill>
                  <a:srgbClr val="1F2933"/>
                </a:solidFill>
                <a:latin typeface="Calibri"/>
              </a:rPr>
              <a:t>•  github.com/bungagana/clauseguard · clauseguard-red.vercel.app</a:t>
            </a:r>
          </a:p>
        </p:txBody>
      </p:sp>
      <p:sp>
        <p:nvSpPr>
          <p:cNvPr id="6" name="TextBox 5"/>
          <p:cNvSpPr txBox="1"/>
          <p:nvPr/>
        </p:nvSpPr>
        <p:spPr>
          <a:xfrm>
            <a:off x="11094415" y="6400800"/>
            <a:ext cx="548640" cy="274320"/>
          </a:xfrm>
          <a:prstGeom prst="rect">
            <a:avLst/>
          </a:prstGeom>
          <a:noFill/>
        </p:spPr>
        <p:txBody>
          <a:bodyPr wrap="square">
            <a:spAutoFit/>
          </a:bodyPr>
          <a:lstStyle/>
          <a:p>
            <a:pPr algn="r"/>
            <a:r>
              <a:rPr sz="1000" b="0">
                <a:solidFill>
                  <a:srgbClr val="5B6772"/>
                </a:solidFill>
                <a:latin typeface="Calibri"/>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